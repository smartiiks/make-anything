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1E8A1-6DA8-4496-BCE8-03ED561CC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760"/>
            <a:ext cx="10515600" cy="2890202"/>
          </a:xfrm>
        </p:spPr>
        <p:txBody>
          <a:bodyPr anchor="b">
            <a:normAutofit/>
          </a:bodyPr>
          <a:lstStyle>
            <a:lvl1pPr algn="l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24CCC-3D44-4BB5-AA35-A21607EF6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06150"/>
            <a:ext cx="10515600" cy="248348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80F6-1855-44E9-BA95-5E00A06E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D7FFD-570A-4968-B943-AF87BB67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E6A8-0665-4714-B241-6AFBA8C6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4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A8A8-ECDA-4018-ABB4-CC22892B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AE7C-51AF-4F0E-B5A3-8C7E1026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28C09-A717-49AB-B60E-433BC469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1A47A-6E5A-4754-8B43-9CE55616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A1EB-7AC7-4F86-90C0-AA980D88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46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5957-C46F-4F17-BC8C-6507E676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65760"/>
            <a:ext cx="10515600" cy="382786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9661B-6633-4C8B-8B9C-E514DF851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43817"/>
            <a:ext cx="10515600" cy="16458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274BF-C1CD-4709-B0A0-E9407DBE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ADB94-0A5B-4B56-B0B1-1FF5580A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A668A-35AE-4CDF-AC4C-2BEEA9EE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8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F1FD-0E96-4963-9F09-92861572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9E5F0-B650-4AFF-B90E-23B378684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40876"/>
            <a:ext cx="5181600" cy="42360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1747B-302D-476E-8F4F-E4B114C66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0876"/>
            <a:ext cx="5181600" cy="4236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0577D-22F7-4958-BB3D-6C9265EA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C5B46-A8FB-4683-9618-3F6E0738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887BD-93E9-4181-9D7F-940C3E17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38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3D79-FA27-4567-9032-AF722733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7C1BF-703F-4992-BB0C-EB1E579C7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51823"/>
            <a:ext cx="5157787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2FCE1-6DC0-43B5-8016-89FD4AF5A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54741"/>
            <a:ext cx="5157787" cy="32349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FED7A-67D0-43CC-889A-25F884964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51823"/>
            <a:ext cx="5183188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31C176-48F2-44EC-B3A2-A144403D5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54741"/>
            <a:ext cx="5183188" cy="3234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187B8-AC48-4FE7-8658-8A31E373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AB465-E22E-45DC-89C9-406121BC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9D1CF-F964-4405-8677-5F9E2A02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63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3453-DD0F-41C0-8F4A-5DC343F5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E6313-506F-4456-B3D9-D9655538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26068-7707-41EC-93EF-A24CAF8F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C8A3C-8C01-4039-B47B-57D84975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418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92633-8C77-419D-B24D-2B3D44DB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49D59-0A88-4A14-A740-4CCD9B52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3DEF9-802F-444E-92D2-397862EE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151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3C20-3881-4F15-94F7-9D7B9F9E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8F40F-6C2A-48EC-8F16-DA179A1DA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4638" y="457201"/>
            <a:ext cx="5800749" cy="54038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36B7E-D33D-48C7-97AC-5C0D9874F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4343400" cy="2211387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49BC5-FF58-463A-B4FA-F0F912F1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072D7-4A2A-407F-A084-6AE8DD00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4C41C-C368-475C-BDC1-DC5B29C7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6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67B0-865B-44ED-9DFE-36C73B0C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C5CF7-138A-437C-9E0A-FF4179970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61462" y="457201"/>
            <a:ext cx="5793925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17822-7770-4117-96A2-8D2FF0A01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64424"/>
            <a:ext cx="4343400" cy="2204564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95030-39C7-4814-A766-1A3E094E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F02CD-DC87-47B6-96C4-F6470B1D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FF531-02C2-4C1D-A692-70403780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0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26EC-DC54-4882-9D58-F201EA25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04E7C-4CBA-49AF-B24C-1A1FF51C2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3C727-C0C7-4BBA-9CF5-6C1FAC76B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03986-C5B4-4956-AC6F-4F36186B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5F941-E847-4C51-97D6-21066B26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2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338D2-D9EE-4B67-97C1-08ABD5745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53848" y="365125"/>
            <a:ext cx="3999952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B1422-6C1E-4422-80E8-34B0092FB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626546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8B53C-3084-4BC0-A80E-DB41C04C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6BFDE-DC70-4A6E-90B8-337FC472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3578F-39AE-4F6F-9614-32EF672E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69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67000"/>
              </a:schemeClr>
            </a:gs>
            <a:gs pos="24000">
              <a:schemeClr val="accent4">
                <a:lumMod val="97000"/>
                <a:lumOff val="3000"/>
              </a:schemeClr>
            </a:gs>
            <a:gs pos="100000">
              <a:schemeClr val="bg1"/>
            </a:gs>
          </a:gsLst>
          <a:lin ang="13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818BD-D734-48A1-8CC0-609D11E5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D215A-D2A1-4903-A905-F8B06EF41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0875"/>
            <a:ext cx="10515600" cy="423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2B88A-7A1D-4AA1-8536-28DC13D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766A6-3C10-4AB8-86A1-BB1F0CDA7EFE}" type="datetimeFigureOut">
              <a:rPr lang="en-US" smtClean="0"/>
              <a:pPr/>
              <a:t>2/13/2024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E925-0C4B-4BAE-9799-3A9D46D92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AD54-E5C5-4D48-8592-BB22F0A85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60201-1C40-4B39-813D-5CD9493BAEE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01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5400" kern="1200" smtClean="0">
          <a:gradFill>
            <a:gsLst>
              <a:gs pos="100000">
                <a:schemeClr val="tx2"/>
              </a:gs>
              <a:gs pos="0">
                <a:schemeClr val="accent1"/>
              </a:gs>
            </a:gsLst>
            <a:lin ang="0" scaled="1"/>
          </a:gradFill>
          <a:latin typeface="Aharoni" panose="02010803020104030203" pitchFamily="2" charset="-79"/>
          <a:ea typeface="+mn-ea"/>
          <a:cs typeface="Angsana New" panose="02020603050405020304" pitchFamily="18" charset="-34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thingiverse.com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printables.com/fr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makerworld.com/fr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thangs.com/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Des colis circulant">
            <a:extLst>
              <a:ext uri="{FF2B5EF4-FFF2-40B4-BE49-F238E27FC236}">
                <a16:creationId xmlns:a16="http://schemas.microsoft.com/office/drawing/2014/main" id="{05A0446D-C013-F49A-8931-253A75DE656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r="-1" b="283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7C2A816-955C-4079-AAAB-066EBD441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alpha val="0"/>
                </a:schemeClr>
              </a:gs>
              <a:gs pos="58000">
                <a:srgbClr val="0E0D12">
                  <a:alpha val="58000"/>
                </a:srgbClr>
              </a:gs>
              <a:gs pos="93000">
                <a:srgbClr val="000000">
                  <a:alpha val="58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C64203-70E5-EA13-258A-3428434EA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7" y="914400"/>
            <a:ext cx="10868153" cy="3427867"/>
          </a:xfrm>
        </p:spPr>
        <p:txBody>
          <a:bodyPr anchor="t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coolSlant"/>
              <a:contourClr>
                <a:schemeClr val="bg1">
                  <a:lumMod val="65000"/>
                </a:schemeClr>
              </a:contourClr>
            </a:sp3d>
          </a:bodyPr>
          <a:lstStyle/>
          <a:p>
            <a:pPr>
              <a:lnSpc>
                <a:spcPct val="90000"/>
              </a:lnSpc>
            </a:pPr>
            <a:r>
              <a:rPr lang="fr-FR" sz="6000" b="1" dirty="0">
                <a:ln/>
                <a:solidFill>
                  <a:srgbClr val="92D050"/>
                </a:solidFill>
                <a:latin typeface="Amasis MT Pro Medium" panose="02040604050005020304" pitchFamily="18" charset="0"/>
              </a:rPr>
              <a:t>Projet: Site centralisation de modèle 3D destinés à l’impression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EC1E5-578C-0373-7C22-E393810A3D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5032113"/>
            <a:ext cx="4892948" cy="1033862"/>
          </a:xfrm>
        </p:spPr>
        <p:txBody>
          <a:bodyPr anchor="t">
            <a:normAutofit/>
          </a:bodyPr>
          <a:lstStyle/>
          <a:p>
            <a:endParaRPr lang="fr-F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179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E53E2-FD4D-8048-D2DA-3F7F640D8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225"/>
            <a:ext cx="10515600" cy="1325563"/>
          </a:xfrm>
          <a:scene3d>
            <a:camera prst="orthographicFront"/>
            <a:lightRig rig="threePt" dir="t"/>
          </a:scene3d>
          <a:sp3d extrusionH="50800" prstMaterial="metal">
            <a:bevelB w="165100" prst="coolSlant"/>
          </a:sp3d>
        </p:spPr>
        <p:txBody>
          <a:bodyPr>
            <a:sp3d>
              <a:bevelT w="82550" h="38100" prst="coolSlant"/>
            </a:sp3d>
          </a:bodyPr>
          <a:lstStyle/>
          <a:p>
            <a:r>
              <a:rPr lang="fr-FR" dirty="0">
                <a:solidFill>
                  <a:srgbClr val="92D050"/>
                </a:solidFill>
                <a:latin typeface="Amasis MT Pro Medium" panose="02040604050005020304" pitchFamily="18" charset="0"/>
              </a:rPr>
              <a:t>Contexte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F8A7-F8FB-8FA2-D061-0062FE989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5775"/>
            <a:ext cx="10515600" cy="46250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dirty="0"/>
              <a:t>Le but de ce site a pour but de proposer une plateforme participative qui a pour but de rassembler un large panel de fichier 3D dédiés à l’impression.</a:t>
            </a:r>
          </a:p>
          <a:p>
            <a:pPr marL="0" indent="0" algn="just">
              <a:buNone/>
            </a:pPr>
            <a:r>
              <a:rPr lang="fr-FR" dirty="0"/>
              <a:t>Les utilisateurs pourront poster des modèles 3D (avec description, instructions et images), les télécharger, les noter, les commenter et les ajouter dans une collection publique ou privée.</a:t>
            </a:r>
          </a:p>
          <a:p>
            <a:pPr marL="0" indent="0" algn="just">
              <a:buNone/>
            </a:pPr>
            <a:r>
              <a:rPr lang="fr-FR" dirty="0"/>
              <a:t>Chaque modèle aura sa page dédiée avec ses images, description, notes commentaires et nombres de fois où il a été ajouté à une collection.</a:t>
            </a:r>
          </a:p>
          <a:p>
            <a:pPr marL="0" indent="0" algn="just">
              <a:buNone/>
            </a:pPr>
            <a:endParaRPr lang="fr-FR" dirty="0"/>
          </a:p>
          <a:p>
            <a:pPr marL="0" indent="0" algn="just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38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E53E2-FD4D-8048-D2DA-3F7F640D8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825"/>
            <a:ext cx="10515600" cy="1325563"/>
          </a:xfrm>
          <a:scene3d>
            <a:camera prst="orthographicFront"/>
            <a:lightRig rig="threePt" dir="t"/>
          </a:scene3d>
          <a:sp3d extrusionH="50800" prstMaterial="metal">
            <a:bevelB w="165100" prst="coolSlant"/>
          </a:sp3d>
        </p:spPr>
        <p:txBody>
          <a:bodyPr>
            <a:sp3d>
              <a:bevelT w="82550" h="38100" prst="coolSlant"/>
            </a:sp3d>
          </a:bodyPr>
          <a:lstStyle/>
          <a:p>
            <a:r>
              <a:rPr lang="fr-FR" dirty="0">
                <a:solidFill>
                  <a:srgbClr val="92D050"/>
                </a:solidFill>
                <a:latin typeface="Amasis MT Pro Medium" panose="02040604050005020304" pitchFamily="18" charset="0"/>
              </a:rPr>
              <a:t>Concurrence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F8A7-F8FB-8FA2-D061-0062FE989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Il y a 4 sites principaux qui ont le même principe:</a:t>
            </a:r>
          </a:p>
        </p:txBody>
      </p:sp>
    </p:spTree>
    <p:extLst>
      <p:ext uri="{BB962C8B-B14F-4D97-AF65-F5344CB8AC3E}">
        <p14:creationId xmlns:p14="http://schemas.microsoft.com/office/powerpoint/2010/main" val="2205480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67000"/>
              </a:schemeClr>
            </a:gs>
            <a:gs pos="24000">
              <a:schemeClr val="accent4">
                <a:lumMod val="97000"/>
                <a:lumOff val="3000"/>
              </a:schemeClr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AE53E2-FD4D-8048-D2DA-3F7F640D8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620" y="336116"/>
            <a:ext cx="3725332" cy="1480178"/>
          </a:xfrm>
          <a:scene3d>
            <a:camera prst="orthographicFront"/>
            <a:lightRig rig="threePt" dir="t"/>
          </a:scene3d>
        </p:spPr>
        <p:txBody>
          <a:bodyPr vert="horz" lIns="91440" tIns="45720" rIns="91440" bIns="45720" rtlCol="0" anchor="ctr">
            <a:normAutofit fontScale="90000"/>
            <a:sp3d>
              <a:bevelT w="82550" h="38100" prst="coolSlant"/>
            </a:sp3d>
          </a:bodyPr>
          <a:lstStyle/>
          <a:p>
            <a:pPr algn="ctr"/>
            <a:r>
              <a:rPr lang="fr-FR" dirty="0">
                <a:solidFill>
                  <a:srgbClr val="92D05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Thingiverse</a:t>
            </a:r>
            <a:endParaRPr lang="fr-FR" dirty="0">
              <a:solidFill>
                <a:srgbClr val="92D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F8A7-F8FB-8FA2-D061-0062FE9891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66669" y="2076404"/>
            <a:ext cx="3725332" cy="478159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fr-FR" dirty="0"/>
              <a:t>Fonctionnalités principales:</a:t>
            </a:r>
          </a:p>
          <a:p>
            <a:r>
              <a:rPr lang="fr-FR" dirty="0"/>
              <a:t>Poster, noter, commenter et ajouter des modèles à une collection.</a:t>
            </a:r>
          </a:p>
        </p:txBody>
      </p:sp>
      <p:pic>
        <p:nvPicPr>
          <p:cNvPr id="10" name="Picture 9" descr="A screenshot of a computer">
            <a:extLst>
              <a:ext uri="{FF2B5EF4-FFF2-40B4-BE49-F238E27FC236}">
                <a16:creationId xmlns:a16="http://schemas.microsoft.com/office/drawing/2014/main" id="{C54DC134-C42E-6B44-71ED-36987DFDAA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44" r="4207" b="18519"/>
          <a:stretch/>
        </p:blipFill>
        <p:spPr>
          <a:xfrm>
            <a:off x="-1" y="0"/>
            <a:ext cx="8460571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833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67000"/>
              </a:schemeClr>
            </a:gs>
            <a:gs pos="24000">
              <a:schemeClr val="accent4">
                <a:lumMod val="97000"/>
                <a:lumOff val="3000"/>
              </a:schemeClr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AE53E2-FD4D-8048-D2DA-3F7F640D8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620" y="336116"/>
            <a:ext cx="3725332" cy="1480178"/>
          </a:xfrm>
          <a:scene3d>
            <a:camera prst="orthographicFront"/>
            <a:lightRig rig="threePt" dir="t"/>
          </a:scene3d>
        </p:spPr>
        <p:txBody>
          <a:bodyPr vert="horz" lIns="91440" tIns="45720" rIns="91440" bIns="45720" rtlCol="0" anchor="ctr">
            <a:normAutofit/>
            <a:sp3d>
              <a:bevelT w="82550" h="38100" prst="coolSlant"/>
            </a:sp3d>
          </a:bodyPr>
          <a:lstStyle/>
          <a:p>
            <a:pPr algn="ctr"/>
            <a:r>
              <a:rPr lang="fr-FR" dirty="0">
                <a:solidFill>
                  <a:srgbClr val="92D05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Printables</a:t>
            </a:r>
            <a:endParaRPr lang="fr-FR" dirty="0">
              <a:solidFill>
                <a:srgbClr val="92D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F8A7-F8FB-8FA2-D061-0062FE9891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66669" y="2076404"/>
            <a:ext cx="3725332" cy="478159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fr-FR" dirty="0"/>
              <a:t>Fonctionnalités principales:</a:t>
            </a:r>
          </a:p>
          <a:p>
            <a:r>
              <a:rPr lang="fr-FR" dirty="0"/>
              <a:t>Poster, noter, commenter et ajouter des modèles à une collection.</a:t>
            </a:r>
          </a:p>
          <a:p>
            <a:r>
              <a:rPr lang="fr-FR" dirty="0"/>
              <a:t>Concours de design hebdomadaires.</a:t>
            </a:r>
          </a:p>
          <a:p>
            <a:r>
              <a:rPr lang="fr-FR" dirty="0"/>
              <a:t>Activité sur le site(ajoute de modèle, commentaire, note) récompensé par des points (boutique de points)</a:t>
            </a:r>
          </a:p>
          <a:p>
            <a:endParaRPr lang="fr-FR" dirty="0"/>
          </a:p>
          <a:p>
            <a:endParaRPr lang="en-US" dirty="0"/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CF61FB5C-613E-28D4-4BFE-D2B085F336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666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024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67000"/>
              </a:schemeClr>
            </a:gs>
            <a:gs pos="24000">
              <a:schemeClr val="accent4">
                <a:lumMod val="97000"/>
                <a:lumOff val="3000"/>
              </a:schemeClr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AE53E2-FD4D-8048-D2DA-3F7F640D8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620" y="336116"/>
            <a:ext cx="3725332" cy="1480178"/>
          </a:xfrm>
          <a:scene3d>
            <a:camera prst="orthographicFront"/>
            <a:lightRig rig="threePt" dir="t"/>
          </a:scene3d>
        </p:spPr>
        <p:txBody>
          <a:bodyPr vert="horz" lIns="91440" tIns="45720" rIns="91440" bIns="45720" rtlCol="0" anchor="ctr">
            <a:noAutofit/>
            <a:sp3d>
              <a:bevelT w="82550" h="38100" prst="coolSlant"/>
            </a:sp3d>
          </a:bodyPr>
          <a:lstStyle/>
          <a:p>
            <a:pPr algn="ctr"/>
            <a:r>
              <a:rPr lang="fr-FR" sz="4500" dirty="0">
                <a:solidFill>
                  <a:srgbClr val="92D05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MakerWorld</a:t>
            </a:r>
            <a:endParaRPr lang="fr-FR" sz="4500" dirty="0">
              <a:solidFill>
                <a:srgbClr val="92D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F8A7-F8FB-8FA2-D061-0062FE9891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66669" y="2076404"/>
            <a:ext cx="3725332" cy="478159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fr-FR" dirty="0"/>
              <a:t>Fonctionnalités principales:</a:t>
            </a:r>
          </a:p>
          <a:p>
            <a:r>
              <a:rPr lang="fr-FR" dirty="0"/>
              <a:t>Poster, noter, commenter et ajouter des modèles à une collection.</a:t>
            </a:r>
          </a:p>
          <a:p>
            <a:r>
              <a:rPr lang="fr-FR" dirty="0"/>
              <a:t>Concours de design</a:t>
            </a:r>
          </a:p>
          <a:p>
            <a:r>
              <a:rPr lang="fr-FR" dirty="0"/>
              <a:t>Activité sur le site(ajoute de modèle, commentaire, note) récompensé par des points (boutique de points)</a:t>
            </a:r>
          </a:p>
          <a:p>
            <a:r>
              <a:rPr lang="fr-FR" dirty="0"/>
              <a:t>Optimisé pour les imprimantes de leur entreprise.</a:t>
            </a:r>
          </a:p>
          <a:p>
            <a:endParaRPr lang="en-US" dirty="0"/>
          </a:p>
        </p:txBody>
      </p:sp>
      <p:pic>
        <p:nvPicPr>
          <p:cNvPr id="10" name="Picture 9" descr="A screenshot of a computer">
            <a:extLst>
              <a:ext uri="{FF2B5EF4-FFF2-40B4-BE49-F238E27FC236}">
                <a16:creationId xmlns:a16="http://schemas.microsoft.com/office/drawing/2014/main" id="{AC06B5FA-9533-B4C6-0240-352C6F528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9" y="0"/>
            <a:ext cx="8405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5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67000"/>
              </a:schemeClr>
            </a:gs>
            <a:gs pos="24000">
              <a:schemeClr val="accent4">
                <a:lumMod val="97000"/>
                <a:lumOff val="3000"/>
              </a:schemeClr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AE53E2-FD4D-8048-D2DA-3F7F640D8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620" y="336116"/>
            <a:ext cx="3725332" cy="1480178"/>
          </a:xfrm>
          <a:scene3d>
            <a:camera prst="orthographicFront"/>
            <a:lightRig rig="threePt" dir="t"/>
          </a:scene3d>
        </p:spPr>
        <p:txBody>
          <a:bodyPr vert="horz" lIns="91440" tIns="45720" rIns="91440" bIns="45720" rtlCol="0" anchor="ctr">
            <a:noAutofit/>
            <a:sp3d>
              <a:bevelT w="82550" h="38100" prst="coolSlant"/>
            </a:sp3d>
          </a:bodyPr>
          <a:lstStyle/>
          <a:p>
            <a:pPr algn="ctr"/>
            <a:r>
              <a:rPr lang="fr-FR" sz="4500" dirty="0">
                <a:solidFill>
                  <a:srgbClr val="92D05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Thangs</a:t>
            </a:r>
            <a:endParaRPr lang="fr-FR" sz="4500" dirty="0">
              <a:solidFill>
                <a:srgbClr val="92D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F8A7-F8FB-8FA2-D061-0062FE9891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66669" y="2076404"/>
            <a:ext cx="3725332" cy="478159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fr-FR" dirty="0"/>
              <a:t>Fonctionnalités principales:</a:t>
            </a:r>
          </a:p>
          <a:p>
            <a:r>
              <a:rPr lang="fr-FR" dirty="0"/>
              <a:t>Poster, noter, commenter et ajouter des modèles à une collection.</a:t>
            </a:r>
          </a:p>
          <a:p>
            <a:r>
              <a:rPr lang="fr-FR" dirty="0"/>
              <a:t>Concours de design</a:t>
            </a:r>
          </a:p>
          <a:p>
            <a:r>
              <a:rPr lang="fr-FR" dirty="0"/>
              <a:t>Mix entre modèles gratuits et payants</a:t>
            </a:r>
          </a:p>
          <a:p>
            <a:r>
              <a:rPr lang="fr-FR" dirty="0"/>
              <a:t>Système d’abonnement à une personne pour avoir accès à des modèles exclusifs</a:t>
            </a:r>
          </a:p>
          <a:p>
            <a:endParaRPr lang="en-US" dirty="0"/>
          </a:p>
        </p:txBody>
      </p:sp>
      <p:pic>
        <p:nvPicPr>
          <p:cNvPr id="7" name="Picture 6" descr="A screenshot of a website">
            <a:extLst>
              <a:ext uri="{FF2B5EF4-FFF2-40B4-BE49-F238E27FC236}">
                <a16:creationId xmlns:a16="http://schemas.microsoft.com/office/drawing/2014/main" id="{5EBE1E4E-757A-4D02-5CD8-01D420F5D7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4" y="0"/>
            <a:ext cx="83695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923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E53E2-FD4D-8048-D2DA-3F7F640D8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825"/>
            <a:ext cx="10515600" cy="1325563"/>
          </a:xfrm>
          <a:scene3d>
            <a:camera prst="orthographicFront"/>
            <a:lightRig rig="threePt" dir="t"/>
          </a:scene3d>
          <a:sp3d extrusionH="50800" prstMaterial="metal">
            <a:bevelB w="165100" prst="coolSlant"/>
          </a:sp3d>
        </p:spPr>
        <p:txBody>
          <a:bodyPr>
            <a:sp3d>
              <a:bevelT w="82550" h="38100" prst="coolSlant"/>
            </a:sp3d>
          </a:bodyPr>
          <a:lstStyle/>
          <a:p>
            <a:r>
              <a:rPr lang="fr-FR" dirty="0">
                <a:solidFill>
                  <a:srgbClr val="92D050"/>
                </a:solidFill>
                <a:latin typeface="Amasis MT Pro Medium" panose="02040604050005020304" pitchFamily="18" charset="0"/>
              </a:rPr>
              <a:t>Public Cible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F8A7-F8FB-8FA2-D061-0062FE989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7500"/>
            <a:ext cx="10515600" cy="3319462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dirty="0"/>
              <a:t>Toutes les personnes possédant une imprimante font partie du public cible principal.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dirty="0"/>
              <a:t>Les personnes ayant des compétences en modélisation 3D font également partie du public cible.</a:t>
            </a:r>
          </a:p>
        </p:txBody>
      </p:sp>
    </p:spTree>
    <p:extLst>
      <p:ext uri="{BB962C8B-B14F-4D97-AF65-F5344CB8AC3E}">
        <p14:creationId xmlns:p14="http://schemas.microsoft.com/office/powerpoint/2010/main" val="2561264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E53E2-FD4D-8048-D2DA-3F7F640D8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825"/>
            <a:ext cx="10515600" cy="1325563"/>
          </a:xfrm>
          <a:scene3d>
            <a:camera prst="orthographicFront"/>
            <a:lightRig rig="threePt" dir="t"/>
          </a:scene3d>
          <a:sp3d extrusionH="50800" prstMaterial="metal">
            <a:bevelB w="165100" prst="coolSlant"/>
          </a:sp3d>
        </p:spPr>
        <p:txBody>
          <a:bodyPr>
            <a:sp3d>
              <a:bevelT w="82550" h="38100" prst="coolSlant"/>
            </a:sp3d>
          </a:bodyPr>
          <a:lstStyle/>
          <a:p>
            <a:r>
              <a:rPr lang="fr-FR" dirty="0">
                <a:solidFill>
                  <a:srgbClr val="92D050"/>
                </a:solidFill>
                <a:latin typeface="Amasis MT Pro Medium" panose="02040604050005020304" pitchFamily="18" charset="0"/>
              </a:rPr>
              <a:t>Types D’utilisateurs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F8A7-F8FB-8FA2-D061-0062FE989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3388"/>
            <a:ext cx="10515600" cy="4951412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dirty="0"/>
              <a:t>Il y aura 3 types d’utilisateurs:</a:t>
            </a:r>
          </a:p>
          <a:p>
            <a:pPr algn="just">
              <a:lnSpc>
                <a:spcPct val="150000"/>
              </a:lnSpc>
            </a:pPr>
            <a:r>
              <a:rPr lang="fr-FR" dirty="0"/>
              <a:t>Utilisateur lambda (sans compte):</a:t>
            </a:r>
          </a:p>
          <a:p>
            <a:pPr lvl="2" algn="just">
              <a:lnSpc>
                <a:spcPct val="150000"/>
              </a:lnSpc>
            </a:pPr>
            <a:r>
              <a:rPr lang="fr-FR" dirty="0"/>
              <a:t>Possibilité de voir les modèles, les commentaires et les notes et de télécharger les modèles</a:t>
            </a:r>
          </a:p>
          <a:p>
            <a:pPr algn="just">
              <a:lnSpc>
                <a:spcPct val="150000"/>
              </a:lnSpc>
            </a:pPr>
            <a:r>
              <a:rPr lang="fr-FR" dirty="0"/>
              <a:t>Utilisateur  connectés (avec un compte):</a:t>
            </a:r>
          </a:p>
          <a:p>
            <a:pPr lvl="2" algn="just">
              <a:lnSpc>
                <a:spcPct val="150000"/>
              </a:lnSpc>
            </a:pPr>
            <a:r>
              <a:rPr lang="fr-FR" dirty="0"/>
              <a:t>Possibilité de voir les modèles, les commentaires et les notes et de télécharger les modèles</a:t>
            </a:r>
          </a:p>
          <a:p>
            <a:pPr lvl="2" algn="just">
              <a:lnSpc>
                <a:spcPct val="150000"/>
              </a:lnSpc>
            </a:pPr>
            <a:r>
              <a:rPr lang="fr-FR" dirty="0"/>
              <a:t>Possibilité de poster un commentaire, de noter des modèles, de les ajouter à des collections et de publier un modèle</a:t>
            </a:r>
          </a:p>
          <a:p>
            <a:pPr lvl="2" algn="just">
              <a:lnSpc>
                <a:spcPct val="150000"/>
              </a:lnSpc>
              <a:buClr>
                <a:srgbClr val="00B0F0"/>
              </a:buClr>
            </a:pPr>
            <a:r>
              <a:rPr lang="fr-FR" dirty="0">
                <a:solidFill>
                  <a:srgbClr val="0070C0"/>
                </a:solidFill>
              </a:rPr>
              <a:t>Possibilité de créer ses propres modèles sur le site et de les sauvegarder</a:t>
            </a:r>
          </a:p>
          <a:p>
            <a:pPr algn="just">
              <a:lnSpc>
                <a:spcPct val="150000"/>
              </a:lnSpc>
            </a:pPr>
            <a:r>
              <a:rPr lang="fr-FR" dirty="0"/>
              <a:t>Administrateur (compte spécifique):</a:t>
            </a:r>
          </a:p>
          <a:p>
            <a:pPr lvl="2" algn="just">
              <a:lnSpc>
                <a:spcPct val="150000"/>
              </a:lnSpc>
            </a:pPr>
            <a:r>
              <a:rPr lang="fr-FR" dirty="0"/>
              <a:t>Possibilité de voir les modèles, les commentaires et les notes et de télécharger les modèles</a:t>
            </a:r>
          </a:p>
          <a:p>
            <a:pPr lvl="2" algn="just">
              <a:lnSpc>
                <a:spcPct val="150000"/>
              </a:lnSpc>
            </a:pPr>
            <a:r>
              <a:rPr lang="fr-FR" dirty="0"/>
              <a:t>Possibilité de supprimer les modèles et commentaires des autres utilisateurs si non appropriés</a:t>
            </a:r>
          </a:p>
          <a:p>
            <a:pPr marL="914400" lvl="2" indent="0" algn="just">
              <a:lnSpc>
                <a:spcPct val="150000"/>
              </a:lnSpc>
              <a:buNone/>
            </a:pPr>
            <a:endParaRPr lang="fr-FR" dirty="0"/>
          </a:p>
          <a:p>
            <a:pPr marL="914400" lvl="2" indent="0" algn="just">
              <a:lnSpc>
                <a:spcPct val="150000"/>
              </a:lnSpc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161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deVTI">
  <a:themeElements>
    <a:clrScheme name="AnalogousFromLightSeed_2SEEDS">
      <a:dk1>
        <a:srgbClr val="000000"/>
      </a:dk1>
      <a:lt1>
        <a:srgbClr val="FFFFFF"/>
      </a:lt1>
      <a:dk2>
        <a:srgbClr val="413224"/>
      </a:dk2>
      <a:lt2>
        <a:srgbClr val="E2E5E8"/>
      </a:lt2>
      <a:accent1>
        <a:srgbClr val="BB9C7E"/>
      </a:accent1>
      <a:accent2>
        <a:srgbClr val="C69693"/>
      </a:accent2>
      <a:accent3>
        <a:srgbClr val="A6A27C"/>
      </a:accent3>
      <a:accent4>
        <a:srgbClr val="75ACAE"/>
      </a:accent4>
      <a:accent5>
        <a:srgbClr val="86A5BF"/>
      </a:accent5>
      <a:accent6>
        <a:srgbClr val="7E85BB"/>
      </a:accent6>
      <a:hlink>
        <a:srgbClr val="5F84A9"/>
      </a:hlink>
      <a:folHlink>
        <a:srgbClr val="7F7F7F"/>
      </a:folHlink>
    </a:clrScheme>
    <a:fontScheme name="Custom 49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deVTI" id="{1194088A-B135-4437-9FD8-7466BBC13A13}" vid="{B787DE2F-1995-45D8-A8E2-6B5CC521AC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</Words>
  <Application>Microsoft Office PowerPoint</Application>
  <PresentationFormat>Grand écran</PresentationFormat>
  <Paragraphs>41</Paragraphs>
  <Slides>9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Aharoni</vt:lpstr>
      <vt:lpstr>Amasis MT Pro Medium</vt:lpstr>
      <vt:lpstr>Arial</vt:lpstr>
      <vt:lpstr>Avenir Next LT Pro</vt:lpstr>
      <vt:lpstr>FadeVTI</vt:lpstr>
      <vt:lpstr>Projet: Site centralisation de modèle 3D destinés à l’impression</vt:lpstr>
      <vt:lpstr>Contexte</vt:lpstr>
      <vt:lpstr>Concurrence</vt:lpstr>
      <vt:lpstr>Thingiverse</vt:lpstr>
      <vt:lpstr>Printables</vt:lpstr>
      <vt:lpstr>MakerWorld</vt:lpstr>
      <vt:lpstr>Thangs</vt:lpstr>
      <vt:lpstr>Public Cible</vt:lpstr>
      <vt:lpstr>Types D’utilisateurs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Projet: Site centralisation de modèle 3D destinés à l’impression</dc:title>
  <dc:creator>Théo Dolphin</dc:creator>
  <cp:lastModifiedBy>Théo Dolphin</cp:lastModifiedBy>
  <cp:revision>2</cp:revision>
  <dcterms:created xsi:type="dcterms:W3CDTF">2023-10-17T08:19:16Z</dcterms:created>
  <dcterms:modified xsi:type="dcterms:W3CDTF">2024-02-13T14:39:25Z</dcterms:modified>
</cp:coreProperties>
</file>